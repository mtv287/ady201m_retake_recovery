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Attempt 2 Pass 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PRF192</c:v>
                </c:pt>
                <c:pt idx="1">
                  <c:v>PRO192</c:v>
                </c:pt>
                <c:pt idx="2">
                  <c:v>CSD201</c:v>
                </c:pt>
                <c:pt idx="3">
                  <c:v>DBI202</c:v>
                </c:pt>
                <c:pt idx="4">
                  <c:v>PRJ301</c:v>
                </c:pt>
                <c:pt idx="5">
                  <c:v>OSG202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61.7</c:v>
                </c:pt>
                <c:pt idx="1">
                  <c:v>63.95</c:v>
                </c:pt>
                <c:pt idx="2">
                  <c:v>65.11</c:v>
                </c:pt>
                <c:pt idx="3">
                  <c:v>60.83</c:v>
                </c:pt>
                <c:pt idx="4">
                  <c:v>56.52</c:v>
                </c:pt>
                <c:pt idx="5">
                  <c:v>55.79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Ultimate Pass 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PRF192</c:v>
                </c:pt>
                <c:pt idx="1">
                  <c:v>PRO192</c:v>
                </c:pt>
                <c:pt idx="2">
                  <c:v>CSD201</c:v>
                </c:pt>
                <c:pt idx="3">
                  <c:v>DBI202</c:v>
                </c:pt>
                <c:pt idx="4">
                  <c:v>PRJ301</c:v>
                </c:pt>
                <c:pt idx="5">
                  <c:v>OSG202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81.95</c:v>
                </c:pt>
                <c:pt idx="1">
                  <c:v>86.16</c:v>
                </c:pt>
                <c:pt idx="2">
                  <c:v>79.31</c:v>
                </c:pt>
                <c:pt idx="3">
                  <c:v>80.07</c:v>
                </c:pt>
                <c:pt idx="4">
                  <c:v>80.43</c:v>
                </c:pt>
                <c:pt idx="5">
                  <c:v>77.74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400">
          <a:latin typeface="Liberation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Recovery Att 2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&lt; 2.0 (Low)</c:v>
                </c:pt>
                <c:pt idx="1">
                  <c:v>2.0 - 3.49</c:v>
                </c:pt>
                <c:pt idx="2">
                  <c:v>3.5 - 4.49</c:v>
                </c:pt>
                <c:pt idx="3">
                  <c:v>&gt;= 4.5 (Near)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50.91</c:v>
                </c:pt>
                <c:pt idx="1">
                  <c:v>68.4</c:v>
                </c:pt>
                <c:pt idx="2">
                  <c:v>67.47</c:v>
                </c:pt>
                <c:pt idx="3">
                  <c:v>69.33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Ultimate Pass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&lt; 2.0 (Low)</c:v>
                </c:pt>
                <c:pt idx="1">
                  <c:v>2.0 - 3.49</c:v>
                </c:pt>
                <c:pt idx="2">
                  <c:v>3.5 - 4.49</c:v>
                </c:pt>
                <c:pt idx="3">
                  <c:v>&gt;= 4.5 (Near)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71.95</c:v>
                </c:pt>
                <c:pt idx="1">
                  <c:v>84.99</c:v>
                </c:pt>
                <c:pt idx="2">
                  <c:v>85.53</c:v>
                </c:pt>
                <c:pt idx="3">
                  <c:v>85.79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400">
          <a:latin typeface="Liberation Sa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Pass 1-S(k)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Att 2</c:v>
                </c:pt>
                <c:pt idx="1">
                  <c:v>Att 3</c:v>
                </c:pt>
                <c:pt idx="2">
                  <c:v>Att 4</c:v>
                </c:pt>
                <c:pt idx="3">
                  <c:v>Att 5</c:v>
                </c:pt>
                <c:pt idx="4">
                  <c:v>Att 6</c:v>
                </c:pt>
                <c:pt idx="5">
                  <c:v>Att 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60.66</c:v>
                </c:pt>
                <c:pt idx="1">
                  <c:v>79.78</c:v>
                </c:pt>
                <c:pt idx="2">
                  <c:v>87.47</c:v>
                </c:pt>
                <c:pt idx="3">
                  <c:v>91.25</c:v>
                </c:pt>
                <c:pt idx="4">
                  <c:v>93.92</c:v>
                </c:pt>
                <c:pt idx="5">
                  <c:v>95.25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Conditional Hazard h(k)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Att 2</c:v>
                </c:pt>
                <c:pt idx="1">
                  <c:v>Att 3</c:v>
                </c:pt>
                <c:pt idx="2">
                  <c:v>Att 4</c:v>
                </c:pt>
                <c:pt idx="3">
                  <c:v>Att 5</c:v>
                </c:pt>
                <c:pt idx="4">
                  <c:v>Att 6</c:v>
                </c:pt>
                <c:pt idx="5">
                  <c:v>Att 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60.66</c:v>
                </c:pt>
                <c:pt idx="1">
                  <c:v>48.6</c:v>
                </c:pt>
                <c:pt idx="2">
                  <c:v>38.02</c:v>
                </c:pt>
                <c:pt idx="3">
                  <c:v>30.21</c:v>
                </c:pt>
                <c:pt idx="4">
                  <c:v>30.52</c:v>
                </c:pt>
                <c:pt idx="5">
                  <c:v>21.9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400">
              <a:latin typeface="Liberation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Liberation San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M5: Naive Bayes</c:v>
                </c:pt>
                <c:pt idx="1">
                  <c:v>M6: Logistic MLE</c:v>
                </c:pt>
                <c:pt idx="2">
                  <c:v>M7: Random Forest</c:v>
                </c:pt>
                <c:pt idx="3">
                  <c:v>M8: Cox Survival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69.16</c:v>
                </c:pt>
                <c:pt idx="1">
                  <c:v>71.11</c:v>
                </c:pt>
                <c:pt idx="2">
                  <c:v>73.4</c:v>
                </c:pt>
                <c:pt idx="3">
                  <c:v>72.95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M5: Naive Bayes</c:v>
                </c:pt>
                <c:pt idx="1">
                  <c:v>M6: Logistic MLE</c:v>
                </c:pt>
                <c:pt idx="2">
                  <c:v>M7: Random Forest</c:v>
                </c:pt>
                <c:pt idx="3">
                  <c:v>M8: Cox Survival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73.51</c:v>
                </c:pt>
                <c:pt idx="1">
                  <c:v>75.69</c:v>
                </c:pt>
                <c:pt idx="2">
                  <c:v>76.43</c:v>
                </c:pt>
                <c:pt idx="3">
                  <c:v>72.07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Liberation San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latin typeface="Liberation Sans"/>
            </a:defRPr>
          </a:pPr>
        </a:p>
      </c:txPr>
    </c:legend>
    <c:dispBlanksAs val="gap"/>
  </c:chart>
  <c:txPr>
    <a:bodyPr/>
    <a:lstStyle/>
    <a:p>
      <a:pPr>
        <a:defRPr sz="1400">
          <a:latin typeface="Liberation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93C5FD"/>
                </a:solidFill>
                <a:latin typeface="Liberation Sans"/>
              </a:rPr>
              <a:t>ADY201M FINAL PROJECT DEFENSE  |  FALL 2026</a:t>
            </a:r>
          </a:p>
          <a:p>
            <a:pPr>
              <a:spcAft>
                <a:spcPts val="1600"/>
              </a:spcAft>
            </a:pPr>
            <a:r>
              <a:rPr sz="4400" b="1">
                <a:solidFill>
                  <a:srgbClr val="F8FAFC"/>
                </a:solidFill>
                <a:latin typeface="Liberation Sans"/>
              </a:rPr>
              <a:t>Retake Behavior &amp; Score Recovery Analysis</a:t>
            </a:r>
          </a:p>
          <a:p>
            <a:r>
              <a:rPr sz="2000">
                <a:solidFill>
                  <a:srgbClr val="CBD5E1"/>
                </a:solidFill>
                <a:latin typeface="Liberation Sans"/>
              </a:rPr>
              <a:t>Evidence from 123,696 Enrollments via SQL, Python and Survival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Liberation Sans"/>
              </a:rPr>
              <a:t>FPT University HCMC  |  Fall 2026   |   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1 · PROBLEM STATEMENT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22.28% Fail Rate Needs Trajectory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Beyond Static Early Warning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High Failure Burden: </a:t>
            </a:r>
            <a:r>
              <a:rPr sz="1600">
                <a:solidFill>
                  <a:srgbClr val="475569"/>
                </a:solidFill>
                <a:latin typeface="Liberation Sans"/>
              </a:rPr>
              <a:t>22,713 first-attempt failures occur across 101,965 IT course enrollments.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Literature Gap: </a:t>
            </a:r>
            <a:r>
              <a:rPr sz="1600">
                <a:solidFill>
                  <a:srgbClr val="475569"/>
                </a:solidFill>
                <a:latin typeface="Liberation Sans"/>
              </a:rPr>
              <a:t>Prior studies (P02, P04) drop repeated attempts instead of modeling rebound.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Decision Objective: </a:t>
            </a:r>
            <a:r>
              <a:rPr sz="1600">
                <a:solidFill>
                  <a:srgbClr val="475569"/>
                </a:solidFill>
                <a:latin typeface="Liberation Sans"/>
              </a:rPr>
              <a:t>Quantify score recovery and optimal retake timing for academic advising.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Sources: ADY201m Corpus (P01, P02, P04) &amp; FPT University Dataset   | 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1 · RESEARCH QUESTIONS &amp; DEFINITIONS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Three Concepts and Four RQs Frame Our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1. Retake Behavior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Continuation: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66.26% (15,050) retake after failing Att 1.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Motivation: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15,050 mandatory vs 137 voluntary improvers.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RQ1 Scope: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Compare retake rates across 18 IT courses.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2. Score Recovery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Mean Gain: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Delta = Total_2 - Total_1 averages +2.11 pts.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Direction: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77.55% improve, 3.28% tie, 19.16% decline.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RQ2 Scope: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Test Level-vs-Gain floor effect paradox.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3. Pass Probability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Pass Rate: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60.66% pass Attempt 2; 79.06% ever pass.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Meaningful: </a:t>
            </a:r>
            <a:r>
              <a:rPr sz="1500">
                <a:solidFill>
                  <a:srgbClr val="475569"/>
                </a:solidFill>
                <a:latin typeface="Liberation Sans"/>
              </a:rPr>
              <a:t>54.80% achieve Pass with Delta &gt;= +1.0 pt.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RQ3 &amp; RQ4: </a:t>
            </a:r>
            <a:r>
              <a:rPr sz="1500">
                <a:solidFill>
                  <a:srgbClr val="475569"/>
                </a:solidFill>
                <a:latin typeface="Liberation Sans"/>
              </a:rPr>
              <a:t>Model term delay, survival, and bottlenecks.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ADY201m Research Formulation &amp; RBL Baseline Corpus (P01, P06, P16)   | 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1 · STEP 2: DATA UNDERSTANDING &amp; CLEANING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Data Forensics Removed 1,653 System Clone Rows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463040"/>
                <a:gridCol w="1737360"/>
                <a:gridCol w="466344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Liberation Sans"/>
                        </a:rPr>
                        <a:t>Stage / Audit Rule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Liberation Sans"/>
                        </a:rPr>
                        <a:t>Records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Liberation Sans"/>
                        </a:rPr>
                        <a:t>Removed / Fixed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Liberation Sans"/>
                        </a:rPr>
                        <a:t>Forensic Discovery &amp; Justification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Liberation Sans"/>
                        </a:rPr>
                        <a:t>1. Raw 18-Course Archive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125,384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26 semesters (SP2017–SU2025), 15,235 unique 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Liberation Sans"/>
                        </a:rPr>
                        <a:t>2. Status Typo Standardization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125,349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511 fixed / 35 null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Standardized Passe, Not Passe, Attendance Fai, Is Susspended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Liberation Sans"/>
                        </a:rPr>
                        <a:t>3. SP2018–SU2018 Roster Clones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123,725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-1,624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6 courses duplicated entire SP2018 rosters into SU2018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Liberation Sans"/>
                        </a:rPr>
                        <a:t>4. Non-Zero Vector Deduplication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123,696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-29 rows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Removed duplicate class exports with identical non-zero scores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  <a:latin typeface="Liberation Sans"/>
                        </a:rPr>
                        <a:t>5. Pairwise Retake Cohort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101,965 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15,050 retakes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Liberation Sans"/>
                        </a:rPr>
                        <a:t>Separated numeric retakes (13,699) from LAB211 Pass/Fail (1,351)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Step 2 Data Cleaning Pipeline &amp; SQLite Database (retake_analysis.db)   | 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1 · STEP 3: DATA ANALYSIS WITH SQL (RQ1)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SQL Queries Show 60.66% Attempt-2 Pass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Cross-Course SQL Evidence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High-Volume Retakes: </a:t>
            </a:r>
            <a:r>
              <a:rPr sz="1600">
                <a:solidFill>
                  <a:srgbClr val="475569"/>
                </a:solidFill>
                <a:latin typeface="Liberation Sans"/>
              </a:rPr>
              <a:t>PRF192 (2,598) and PRO192 (2,355) lead total retakes.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Strong Rebound: </a:t>
            </a:r>
            <a:r>
              <a:rPr sz="1600">
                <a:solidFill>
                  <a:srgbClr val="475569"/>
                </a:solidFill>
                <a:latin typeface="Liberation Sans"/>
              </a:rPr>
              <a:t>CSD201 gains +2.51 points with 65.11% Attempt-2 pass.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Hardest Bottlenecks: </a:t>
            </a:r>
            <a:r>
              <a:rPr sz="1600">
                <a:solidFill>
                  <a:srgbClr val="475569"/>
                </a:solidFill>
                <a:latin typeface="Liberation Sans"/>
              </a:rPr>
              <a:t>PRJ321 (47.86%) and CSD203 (53.14%) show lowest pass rates.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574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SQLite Query 1 on retake_pairs (n = 15,050 Mandatory Retakes)   | 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2 · STEP 4 &amp; 5: INFERENTIAL STATISTICS (RQ2)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Floor Effects Create a Level-vs-Gain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Why Gain != Recovery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Significant Shift: </a:t>
            </a:r>
            <a:r>
              <a:rPr sz="1600">
                <a:solidFill>
                  <a:srgbClr val="475569"/>
                </a:solidFill>
                <a:latin typeface="Liberation Sans"/>
              </a:rPr>
              <a:t>Score rises from 2.81 to 4.92 (t = 91.09, d = 0.78).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Floor Effect Paradox: </a:t>
            </a:r>
            <a:r>
              <a:rPr sz="1600">
                <a:solidFill>
                  <a:srgbClr val="475569"/>
                </a:solidFill>
                <a:latin typeface="Liberation Sans"/>
              </a:rPr>
              <a:t>Scores &lt;2.0 gain +3.26 pts but only 50.91% pass.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Attendance Penalty: </a:t>
            </a:r>
            <a:r>
              <a:rPr sz="1600">
                <a:solidFill>
                  <a:srgbClr val="475569"/>
                </a:solidFill>
                <a:latin typeface="Liberation Sans"/>
              </a:rPr>
              <a:t>Attendance Fail recovers at 44.35% vs 64.66% Not Passed.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574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Python SciPy Inferential Tests (Chi2 = 446.80, Kruskal H = 194.27, p &lt; 0.0001)   | 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2 · RQ3: RETAKE TIMING &amp; SURVIVAL ANALYSIS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Immediate Block 2 Retakes Boost Pass Rate to 76.61%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Timing &amp; Hazard Decay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Block 2 Advantage: </a:t>
            </a:r>
            <a:r>
              <a:rPr sz="1600">
                <a:solidFill>
                  <a:srgbClr val="475569"/>
                </a:solidFill>
                <a:latin typeface="Liberation Sans"/>
              </a:rPr>
              <a:t>Same-semester retakes beat next-term by +18.79 pts.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Monotonic Decay: </a:t>
            </a:r>
            <a:r>
              <a:rPr sz="1600">
                <a:solidFill>
                  <a:srgbClr val="475569"/>
                </a:solidFill>
                <a:latin typeface="Liberation Sans"/>
              </a:rPr>
              <a:t>Pass hazard drops from 60.66% (Att 2) to 38.02% (Att 4).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Intervention Threshold: </a:t>
            </a:r>
            <a:r>
              <a:rPr sz="1600">
                <a:solidFill>
                  <a:srgbClr val="475569"/>
                </a:solidFill>
                <a:latin typeface="Liberation Sans"/>
              </a:rPr>
              <a:t>Failing 3 attempts triggers mandatory tutoring (&lt;40%).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574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Kaplan-Meier Survival Table &amp; Cloglog Cox Model (Chi2 = 575.89, p &lt; 0.0001)   | 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2 · WEEK 6 EXTENDED RQ4: COMPONENT BOTTLENECK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Passing Coursework Yields 87.1%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Four Distinct Student Profiles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Exam Bottleneck: </a:t>
            </a:r>
            <a:r>
              <a:rPr sz="1600">
                <a:solidFill>
                  <a:srgbClr val="475569"/>
                </a:solidFill>
                <a:latin typeface="Liberation Sans"/>
              </a:rPr>
              <a:t>Coursework &gt;=5.0 but Final &lt;4.0 reaches 69.28% Att-2 pass.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Comprehensive Deficit: </a:t>
            </a:r>
            <a:r>
              <a:rPr sz="1600">
                <a:solidFill>
                  <a:srgbClr val="475569"/>
                </a:solidFill>
                <a:latin typeface="Liberation Sans"/>
              </a:rPr>
              <a:t>Coursework &lt;5.0 achieves 60.45% Att-2 pass (78.25% ever).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Voluntary Improvers: </a:t>
            </a:r>
            <a:r>
              <a:rPr sz="1600">
                <a:solidFill>
                  <a:srgbClr val="475569"/>
                </a:solidFill>
                <a:latin typeface="Liberation Sans"/>
              </a:rPr>
              <a:t>137 passed students retook and gained +0.79 pts (93.4% pass).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SQLite Query 5 on Component Scores (n = 13,836 Numeric Pairs)   | 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3 · STEP 6: 8-MODEL REGRESSION &amp; SURVIVAL BENCHMARK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Poly Ridge (R² = 0.285) and RF (AUC = 0.734)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Holdout Test Evaluation (n=2,740)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Continuous Delta Models: </a:t>
            </a:r>
            <a:r>
              <a:rPr sz="1600">
                <a:solidFill>
                  <a:srgbClr val="475569"/>
                </a:solidFill>
                <a:latin typeface="Liberation Sans"/>
              </a:rPr>
              <a:t>Poly Ridge (RMSE 2.279) beats Simple OLS (2.459).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Top Predictors: </a:t>
            </a:r>
            <a:r>
              <a:rPr sz="1600">
                <a:solidFill>
                  <a:srgbClr val="475569"/>
                </a:solidFill>
                <a:latin typeface="Liberation Sans"/>
              </a:rPr>
              <a:t>Prior GPA (OR = 1.416) and Block 2 Retake (OR = 1.397).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0F172A"/>
                </a:solidFill>
                <a:latin typeface="Liberation Sans"/>
              </a:rPr>
              <a:t>Survival Consistency: </a:t>
            </a:r>
            <a:r>
              <a:rPr sz="1600">
                <a:solidFill>
                  <a:srgbClr val="475569"/>
                </a:solidFill>
                <a:latin typeface="Liberation Sans"/>
              </a:rPr>
              <a:t>Cox Cloglog confirms wait penalty (HR = 0.805).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5740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Step 6 Holdout Test Set (80/20 Split, Zero Data Leakage Verified)   | 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Liberation Sans"/>
              </a:rPr>
              <a:t>PART 3 · STEP 7 TOOL &amp; AI REFLECTION (30% WEIGHT)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Liberation Sans"/>
              </a:rPr>
              <a:t>Live Simulator and Five Forensic Catches Anchor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1. Interactive Tool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5 Visual Tabs: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Explore 18 courses, RQs, and 8 models.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Live Simulator: </a:t>
            </a:r>
            <a:r>
              <a:rPr sz="1500">
                <a:solidFill>
                  <a:srgbClr val="475569"/>
                </a:solidFill>
                <a:latin typeface="Liberation Sans"/>
              </a:rPr>
              <a:t>Real-time OLS, Logistic, and Cox curves.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Advising Mode: </a:t>
            </a:r>
            <a:r>
              <a:rPr sz="1500">
                <a:solidFill>
                  <a:srgbClr val="475569"/>
                </a:solidFill>
                <a:latin typeface="Liberation Sans"/>
              </a:rPr>
              <a:t>Compare Block 2 vs delayed trajectories.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2. Human Delta Audit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Clone Detection: </a:t>
            </a:r>
            <a:r>
              <a:rPr sz="1500">
                <a:solidFill>
                  <a:srgbClr val="475569"/>
                </a:solidFill>
                <a:latin typeface="Liberation Sans"/>
              </a:rPr>
              <a:t>Removed 1,624 SP2018/SU2018 clone rows.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LAB211 Handling: </a:t>
            </a:r>
            <a:r>
              <a:rPr sz="1500">
                <a:solidFill>
                  <a:srgbClr val="475569"/>
                </a:solidFill>
                <a:latin typeface="Liberation Sans"/>
              </a:rPr>
              <a:t>Separated LOC Pass/Fail from numeric scores.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Leakage Fix: </a:t>
            </a:r>
            <a:r>
              <a:rPr sz="1500">
                <a:solidFill>
                  <a:srgbClr val="475569"/>
                </a:solidFill>
                <a:latin typeface="Liberation Sans"/>
              </a:rPr>
              <a:t>Used baseline GPA prior to Attempt 1 in Cox.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4747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Liberation Sans"/>
              </a:rPr>
              <a:t>3. Policy Actions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Block 2 Default: </a:t>
            </a:r>
            <a:r>
              <a:rPr sz="1500">
                <a:solidFill>
                  <a:srgbClr val="475569"/>
                </a:solidFill>
                <a:latin typeface="Liberation Sans"/>
              </a:rPr>
              <a:t>Auto-enroll failed Block 1 into Block 2.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Exam Clinics: </a:t>
            </a:r>
            <a:r>
              <a:rPr sz="1500">
                <a:solidFill>
                  <a:srgbClr val="475569"/>
                </a:solidFill>
                <a:latin typeface="Liberation Sans"/>
              </a:rPr>
              <a:t>Target Final Exam prep for CW &gt;= 5.0 group.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Liberation Sans"/>
              </a:rPr>
              <a:t>Attempt-3 Alert: </a:t>
            </a:r>
            <a:r>
              <a:rPr sz="1500">
                <a:solidFill>
                  <a:srgbClr val="475569"/>
                </a:solidFill>
                <a:latin typeface="Liberation Sans"/>
              </a:rPr>
              <a:t>Mandate 1:1 advising after 3 failed tries.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Liberation Sans"/>
              </a:rPr>
              <a:t>Source: ADY201m Interactive Dashboard &amp; 14-Entry AI Audit Log Workbook   | 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4000" b="1">
                <a:solidFill>
                  <a:srgbClr val="F8FAFC"/>
                </a:solidFill>
                <a:latin typeface="Liberation Sans"/>
              </a:rPr>
              <a:t>Immediate Block 2 Retakes Maximize Student Score Recovery.</a:t>
            </a:r>
          </a:p>
          <a:p>
            <a:r>
              <a:rPr sz="2200">
                <a:solidFill>
                  <a:srgbClr val="93C5FD"/>
                </a:solidFill>
                <a:latin typeface="Liberation Sans"/>
              </a:rPr>
              <a:t>Thank You  |  Questions &amp; Live Simulator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Liberation Sans"/>
              </a:rPr>
              <a:t>ADY201m Final Defense  |  FPT University HCMC   | 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